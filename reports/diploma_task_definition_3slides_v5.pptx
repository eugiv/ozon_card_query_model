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44CCA0"/>
              </a:solidFill>
              <a:ln>
                <a:noFill/>
              </a:ln>
            </c:spPr>
          </c:dPt>
          <c:dPt>
            <c:idx val="2"/>
            <c:spPr>
              <a:solidFill>
                <a:srgbClr val="44CCA0"/>
              </a:solidFill>
              <a:ln>
                <a:noFill/>
              </a:ln>
            </c:spPr>
          </c:dPt>
          <c:dPt>
            <c:idx val="3"/>
            <c:spPr>
              <a:solidFill>
                <a:srgbClr val="44CCA0"/>
              </a:solidFill>
              <a:ln>
                <a:noFill/>
              </a:ln>
            </c:spPr>
          </c:dPt>
          <c:dPt>
            <c:idx val="4"/>
            <c:spPr>
              <a:solidFill>
                <a:srgbClr val="44CCA0"/>
              </a:solidFill>
              <a:ln>
                <a:noFill/>
              </a:ln>
            </c:spPr>
          </c:dPt>
          <c:dPt>
            <c:idx val="5"/>
            <c:spPr>
              <a:solidFill>
                <a:srgbClr val="44CCA0"/>
              </a:solidFill>
              <a:ln>
                <a:noFill/>
              </a:ln>
            </c:spPr>
          </c:dPt>
          <c:dPt>
            <c:idx val="6"/>
            <c:spPr>
              <a:solidFill>
                <a:srgbClr val="44CCA0"/>
              </a:solidFill>
              <a:ln>
                <a:noFill/>
              </a:ln>
            </c:spPr>
          </c:dPt>
          <c:dPt>
            <c:idx val="7"/>
            <c:spPr>
              <a:solidFill>
                <a:srgbClr val="7961C9"/>
              </a:solidFill>
              <a:ln>
                <a:noFill/>
              </a:ln>
            </c:spPr>
          </c:dPt>
          <c:dPt>
            <c:idx val="8"/>
            <c:spPr>
              <a:solidFill>
                <a:srgbClr val="7961C9"/>
              </a:solidFill>
              <a:ln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янв*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536</c:v>
                </c:pt>
                <c:pt idx="2">
                  <c:v>638</c:v>
                </c:pt>
                <c:pt idx="3">
                  <c:v>746</c:v>
                </c:pt>
                <c:pt idx="4">
                  <c:v>1247</c:v>
                </c:pt>
                <c:pt idx="5">
                  <c:v>1469</c:v>
                </c:pt>
                <c:pt idx="6">
                  <c:v>1743</c:v>
                </c:pt>
                <c:pt idx="7">
                  <c:v>525</c:v>
                </c:pt>
                <c:pt idx="8">
                  <c:v>378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91.6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1–5</c:v>
                </c:pt>
                <c:pt idx="1">
                  <c:v>6–20</c:v>
                </c:pt>
                <c:pt idx="2">
                  <c:v>21–100</c:v>
                </c:pt>
                <c:pt idx="3">
                  <c:v>101+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9177</c:v>
                </c:pt>
                <c:pt idx="1">
                  <c:v>2663</c:v>
                </c:pt>
                <c:pt idx="2">
                  <c:v>1566</c:v>
                </c:pt>
                <c:pt idx="3">
                  <c:v>844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12.4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1–5</c:v>
                </c:pt>
                <c:pt idx="1">
                  <c:v>6–20</c:v>
                </c:pt>
                <c:pt idx="2">
                  <c:v>21–100</c:v>
                </c:pt>
                <c:pt idx="3">
                  <c:v>101+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0.03770295303476082</c:v>
                </c:pt>
                <c:pt idx="1">
                  <c:v>0.11866316184754037</c:v>
                </c:pt>
                <c:pt idx="2">
                  <c:v>0.3007662835249042</c:v>
                </c:pt>
                <c:pt idx="3">
                  <c:v>0.7867298578199052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586E77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dPt>
            <c:idx val="4"/>
            <c:spPr>
              <a:solidFill>
                <a:srgbClr val="087557"/>
              </a:solidFill>
              <a:ln>
                <a:noFill/>
              </a:ln>
            </c:spPr>
          </c:dPt>
          <c:dPt>
            <c:idx val="5"/>
            <c:spPr>
              <a:solidFill>
                <a:srgbClr val="397DBA"/>
              </a:solidFill>
              <a:ln>
                <a:noFill/>
              </a:ln>
            </c:spPr>
          </c:dPt>
          <c:dPt>
            <c:idx val="6"/>
            <c:spPr>
              <a:solidFill>
                <a:srgbClr val="44CCA0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TF-IDF</c:v>
                </c:pt>
                <c:pt idx="1">
                  <c:v>Совместные
продажи</c:v>
                </c:pt>
                <c:pt idx="2">
                  <c:v>E5</c:v>
                </c:pt>
                <c:pt idx="3">
                  <c:v>Адаптер</c:v>
                </c:pt>
                <c:pt idx="4">
                  <c:v>LightGCN</c:v>
                </c:pt>
                <c:pt idx="5">
                  <c:v>CatBoost</c:v>
                </c:pt>
                <c:pt idx="6">
                  <c:v>Гибрид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0.09111570247933884</c:v>
                </c:pt>
                <c:pt idx="1">
                  <c:v>0.12867965367965367</c:v>
                </c:pt>
                <c:pt idx="2">
                  <c:v>0.11895907123179851</c:v>
                </c:pt>
                <c:pt idx="3">
                  <c:v>0.12892561983471074</c:v>
                </c:pt>
                <c:pt idx="4">
                  <c:v>0.15166601075691985</c:v>
                </c:pt>
                <c:pt idx="5">
                  <c:v>0.15292207792207793</c:v>
                </c:pt>
                <c:pt idx="6">
                  <c:v>0.2284861603043421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noMultiLvlLbl val="0"/>
      </c:catAx>
      <c:valAx>
        <c:axId val="-2113994440"/>
        <c:scaling>
          <c:max val="0.3"/>
          <c:min val="0.0"/>
        </c:scaling>
        <c:delete val="0"/>
        <c:axPos val="b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586E77"/>
              </a:solidFill>
              <a:ln>
                <a:noFill/>
              </a:ln>
            </c:spPr>
          </c:dPt>
          <c:dPt>
            <c:idx val="1"/>
            <c:spPr>
              <a:solidFill>
                <a:srgbClr val="7961C9"/>
              </a:solidFill>
              <a:ln>
                <a:noFill/>
              </a:ln>
            </c:spPr>
          </c:dPt>
          <c:dPt>
            <c:idx val="2"/>
            <c:spPr>
              <a:solidFill>
                <a:srgbClr val="397DBA"/>
              </a:solidFill>
              <a:ln>
                <a:noFill/>
              </a:ln>
            </c:spPr>
          </c:dPt>
          <c:dPt>
            <c:idx val="3"/>
            <c:spPr>
              <a:solidFill>
                <a:srgbClr val="44CCA0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E5 + совместные
продажи</c:v>
                </c:pt>
                <c:pt idx="1">
                  <c:v>+ адаптер</c:v>
                </c:pt>
                <c:pt idx="2">
                  <c:v>+ LightGCN</c:v>
                </c:pt>
                <c:pt idx="3">
                  <c:v>Все четыре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0.1905844155844156</c:v>
                </c:pt>
                <c:pt idx="1">
                  <c:v>0.21592876820149548</c:v>
                </c:pt>
                <c:pt idx="2">
                  <c:v>0.2089662862390135</c:v>
                </c:pt>
                <c:pt idx="3">
                  <c:v>0.2284861603043421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586E77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44CCA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TF-IDF</c:v>
                </c:pt>
                <c:pt idx="1">
                  <c:v>E5 + совместные
продажи</c:v>
                </c:pt>
                <c:pt idx="2">
                  <c:v>Обученный
гибрид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0.12881944444444446</c:v>
                </c:pt>
                <c:pt idx="1">
                  <c:v>0.15138888888888888</c:v>
                </c:pt>
                <c:pt idx="2">
                  <c:v>0.1795138888888889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5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dPt>
            <c:idx val="0"/>
            <c:spPr>
              <a:solidFill>
                <a:srgbClr val="44CCA0"/>
              </a:solidFill>
              <a:ln>
                <a:noFill/>
              </a:ln>
            </c:spPr>
          </c:dPt>
          <c:dPt>
            <c:idx val="1"/>
            <c:spPr>
              <a:solidFill>
                <a:srgbClr val="397DBA"/>
              </a:solidFill>
              <a:ln>
                <a:noFill/>
              </a:ln>
            </c:spPr>
          </c:dPt>
          <c:dPt>
            <c:idx val="2"/>
            <c:spPr>
              <a:solidFill>
                <a:srgbClr val="7961C9"/>
              </a:solidFill>
              <a:ln>
                <a:noFill/>
              </a:ln>
            </c:spPr>
          </c:dPt>
          <c:dPt>
            <c:idx val="3"/>
            <c:spPr>
              <a:solidFill>
                <a:srgbClr val="DF7185"/>
              </a:solidFill>
              <a:ln>
                <a:noFill/>
              </a:ln>
            </c:spPr>
          </c:dPt>
          <c:dPt>
            <c:idx val="4"/>
            <c:spPr>
              <a:solidFill>
                <a:srgbClr val="586E77"/>
              </a:solidFill>
              <a:ln>
                <a:noFill/>
              </a:ln>
            </c:spPr>
          </c:dPt>
          <c:dPt>
            <c:idx val="5"/>
            <c:spPr>
              <a:solidFill>
                <a:srgbClr val="087557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Исходная
выдача</c:v>
                </c:pt>
                <c:pt idx="1">
                  <c:v>Шум
5%</c:v>
                </c:pt>
                <c:pt idx="2">
                  <c:v>Шум
15%</c:v>
                </c:pt>
                <c:pt idx="3">
                  <c:v>Выбросы
×100</c:v>
                </c:pt>
                <c:pt idx="4">
                  <c:v>Потеря
10% пула</c:v>
                </c:pt>
                <c:pt idx="5">
                  <c:v>Потеря
30% пула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0.2284861603043421</c:v>
                </c:pt>
                <c:pt idx="1">
                  <c:v>0.2302603961694871</c:v>
                </c:pt>
                <c:pt idx="2">
                  <c:v>0.22407188770825134</c:v>
                </c:pt>
                <c:pt idx="3">
                  <c:v>0.2147120556211465</c:v>
                </c:pt>
                <c:pt idx="4">
                  <c:v>0.20256788665879574</c:v>
                </c:pt>
                <c:pt idx="5">
                  <c:v>0.17609099654554197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800">
                  <a:solidFill>
                    <a:srgbClr val="142B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142B3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l"/>
        <c:majorGridlines>
          <c:spPr>
            <a:ln>
              <a:solidFill>
                <a:srgbClr val="F0F5F5"/>
              </a:solidFill>
            </a:ln>
          </c:spPr>
        </c:majorGridlines>
        <c:numFmt formatCode="0.00%" sourceLinked="0"/>
        <c:majorTickMark val="out"/>
        <c:minorTickMark val="none"/>
        <c:tickLblPos val="nextTo"/>
        <c:txPr>
          <a:bodyPr/>
          <a:lstStyle/>
          <a:p>
            <a:pPr>
              <a:defRPr sz="1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Рабочая гибридная система: готовая E5, обученные адаптер и LightGCN, сравнение с CatBoost. На слайдах показаны результаты восстановления продающих связей; изменение SEO остаётся бизнес-решением. Замените титульные реквизиты.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шесть пунктов критериев: постановка, анализ, методика, результаты, выводы и заключение, список источников. Реализованный контур отделён от будущих расширений. Записка содержит десять страниц, то есть меньше предельных пятнадцати; число слайдов не является числом страниц записки.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Принятый ранее пример сохранён. Это иллюстрация принципа, не реальный результат рекомендаций: пригодность меламиновой губки для конкретной поверхности проверяется по инструкции. Поисковые кластеры самостоятельные; варианты внутри normquery уже объединены WB. Видимость определяется не только SEO. Источник: docs/recommender_methodology.md.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Кластер normquery — готовая каноническая группа запросов WB. Текущий текст используется отдельно от исторического обучения. Консервативные правила материала и назначения реализованы, но охватывают только явно названные свойства из ограниченного словаря. Отсутствие конфликта не доказывает полную совместимость. Результат — гипотезы review. Суммы частотностей не равны числу новых покупателей.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полностью условный, названия сохранены из принятой версии. Формулы рассчитаны для одного SKU: DCG=1+1/log2(4)=1.5; IDCG=1+1/log2(3)+1/log2(4)=2.13093; NDCG=0.70392. В коде вычисляем K=5/10, усредняем по всем SKU с положительными целями, включая SKU без найденных кандидатов. Пропущенные цели входят в P. Наблюдаемая Precision не равна экспертной релевантности. Диагностика дополнительно использует полноту общего пула и MRR. Код: recommendation_metrics.py.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 default_staging.stg_ozon_product_queries_details. Месячные значения — число SKU с любыми фактами, не объём спроса, продаж или полный каталог. Причина изменения охвата неизвестна. Наличие дня не доказывает полноту загрузки. Суммы unique_search_users и unique_view_users по дням/вариантам не являются уникальными людьми за весь период. Частотность дедуплицируется по query/date через max. Источник графика: reports/analysis_slides_data.json, source.monthly.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Актуальный аудит по 07.10: 207745/997305 сопоставленных пар; 191456.0/232791.0 заказов, разные знаменатели. 11285 дневных пар с заказом и нулём просмотров — диагностический флаг, не автоматическое удаление. loaded_at не является версией алгоритма. Источник: experiment_summary.json.aggregation.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observation.view_buckets в analysis_slides_data.json. Это описательная связь, не причинный эффект повышения видимости. В группах показаны суммарные просмотры, а не уникальные посетители за период. Низкая доля наблюдённых заказов не даёт достоверной отрицательной метки. Отдельно есть 17 SKU×cluster с views=0 и orders&gt;0; их не используем как обычную воронку кликов. Значения:9177/346,2663/316,1566/471,844/664.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Анализ задаёт конкретные требования: safe many-to-one mapping; контроль пропусков; asof-словарь; temporal validation; неизвестные не являются надёжными negatives; product checks отделены от исторического pipeline. Структура источника ограничивает холодный старт. Фото/OCR перенесены после доводки товарной релевантности. Источник: docs/recommender_methodology.md, разделы о текущем тексте и границах отсева.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0–5 суммарных просмотров за 14 дней — экспериментальные параметры. Все прошлые продающие кластеры исключены из кандидатов. Проверочные нейросети обучены до 04.09. После оценки выполнен отдельный refit по 07.10. Эти финальные веса нельзя оценивать на сентябрьских ответах. LightGCN и адаптер обучены; cross-encoder, фото и OCR не используются. Холодный старт не решён. Код: cluster_data.py, cluster_recommender.py, full_history_recommender.py, finalize_recommender.py, seo_recommendation_policy.py.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E5 — предобученная intfloat/multilingual-e5-small. Готовые веса фиксированы: замороженные веса с закреплённой версией используются без изменения. На данных проекта обучен отдельный residual MLP-адаптер поверх векторов E5; это обучение адаптера, а не fine-tuning Transformer. Co-sales рассчитывает связи непосредственно из совместных продаж. LightGCN — отдельно обученная графовая нейросеть. Её поисковый профиль строится из seed-кластеров, а не собственного SKU embedding. TF-IDF и популярность остаются контрольными каналами; извлечение и сравнение используют общий пул. Фото, OCR и cross-encoder не входят в текущую реализацию. Отсутствие сигнала графа не означает плохой запрос.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Неизвестные пары — слабые сравнения, не подтверждённые отрицательные. До 12 сложных и случайных сравнений на positive, seed=7, нормировка веса SKU–задачи. Пропущенная цель не добавляется в пул. Выбрано 600 из 100/300/600 итераций по validation NDCG@10. В RRF смещение 60, шаг весов 0,25; выбраны равные веса E5/co-sales/адаптера/LightGCN. CatBoost сравнивается отдельно. Маскировка — задача обучения ранжировщика: собственное ребро удаляется из истории и исходного co-sales графа. Это не независимая проверка нейросетей, которые могли видеть скрытые связи. Главная оценка обученных каналов — временная проверка. Источник: dormant_learning.py, experiment_summary.json.training.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Реальные финальные размеры из experiment_summary.json. Проверочный CatBoost: 37 245 строк / 334 SKU / 2 504 группы. Финальный: 46 787 / 413 / 3 053. Проверочный адаптер: 20 740 пар / 549 SKU; финальный: 23 569 / 589. Архитектура residual MLP normalize(x+0.1*MLP(x)), contrastive InfoNCE. LightGCN: 9 525 проверочных и 10 742 финальных продающих рёбер, 32 измерения, 2 слоя, BPR и L2. Проверочные нейросети обучены по 04.09, финальные по 07.10 после оценки. Падение training loss показывает обучение, но не заменяет Recall/NDCG. LightGCN не использует собственный SKU embedding при выдаче; профиль составляется из известных seed-кластеров. E5 — готовая предобученная нейросеть с фиксированными весами; на нашем каталоге обучены адаптер, LightGCN и CatBoostRanker. Итоговый гибрид выбран по validation: E5, co-sales, адаптер и LightGCN по 25%. CatBoost сохранён как обученный альтернативный ранжировщик. Cross-encoder относится к дальнейшим экспериментам, не к действующей архитектуре.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Даты решений CatBoost: 26.06, 03.07, 07.08, 14.08, 21.08. Шаг 7 дней, ответы по 14 дней; перекрывающиеся targets не независимы. Решения 10/17/24/31.07 пропущены из-за отсутствия 21.07. Две задачи маскировки на решение. Адаптер и граф для проверки используют только историю по 04.09. Validation: 05–18.09; test: 19.09–02.10. Дополнительный период 04–07.10, параметры не выбирались по его ответам. Полный refit по 07.10 после оценки включает прежние ответы и не является моделью для сентябрьского test. Ранняя история используется как прошлый контекст, но словарь от 26.06 нельзя незаметно применять к решениям января. Все пропущенные цели остаются в знаменателе. Это не независимый test, поскольку сентябрьский период просмотрен 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experiment_summary.json.test, реальные средние по 121 SKU и 260 будущим положительным связям; одинаковый пул 166 291. Отсутствующие кандидаты остаются в знаменателе. Гибрид выбран до test по validation NDCG@10. Precision@10=4,96% — подтверждение будущими заказами, не экспертная релевантность. Сентябрьский период уже использован; это диагностика. Популярность — контроль, Recall@10=0,55%. Все модели реально обучены или построены; улучшение не означает прирост продаж.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experiment_summary.json.ablation. Контроль E5+co-sales и все варианты используют один расширенный пул из 166 291 кандидата, 121 SKU/260 целей. Веса подбираются только на validation. Парный SKU-bootstrap, 2 000 повторов, seed7. Интервал поддерживает диагностический прирост, но не превращает повторно использованный период в независимый. Отдельно zero_views_test94SKU180целей, без постфактум фильтрации выдачи и без вывода об отсутствии в SEO. Старые 18,23% на другом пуле не являются корректным прямым контролем этого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experiment_summary.json.new_days и ablation.new_days. Решение03.10, ответы04–07.10, 96SKU132цели, одинаковый пул215719. Параметры и метод заранее выбраны по сентябрьскому validation, а не по этим ответам. Контроль15,14%, гибрид17,95%, разница+2,81п.п., парныйSKUbootstrap95%-2,08…+7,92п.п. Интервал включает0. Нельзя приравнивать этот4-дневный горизонт к сентябрьскому14-дневному. Для устойчивости нужна новая полноценная проверка; прирост продаж и экспертная релевантность не измерены.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experiment_summary.json.stage4.test.scenarios. Столбцы — macro Recall@10 гибрида, среднее трёх повторов seed7/8/9, не процент релевантных фраз. Шум 5/15% от стандартного отклонения оценок внутри SKU; поведенческий score — мультипликативный шум. Выбросы x100 глобальных продаж, спроса и поведенческого score у случайного1%; log-счётчики разворачиваются перед умножением. Собственные просмотры и условие допуска неизменны. При случайной потере10/30% цели не удаляются из знаменателя. Никакого обучения/подбора настроек. Это не опечатки в тексте и не переобучение LightGCN на шумных исходных заказах. Сентябрьский период диагностический; интервалы и совпадение первой десятки доступны в агрегатах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experiment_summary.json.stage4.test.rank_distribution. Полный набор121SKU/260positivepairs; порядок learned_fusion score descending, normquery ascending. Пять взаимоисключающих корзин; macro-доли суммируются в1. Первые две суммарно равны исходномуRecall@10, последняя равна1-retrieval_recall. Отдельный целевой query может не входить в общий пул — он не удаляется из оценки. Это распределение наблюдаемых будущих positive, не полный каталог релевантных фраз. Неизвестные без заказа не объявляются негативами. Практический вывод касается диагностики поиска/ранжирования, а не автоматического изменения SEO.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experiment_summary.json.current_queue, reports/stage3_release. После отдельного полного обучения сформированы3530review/353SKU, до10наSKU из212787кандидатов. До ограничения списка184825review,27055явных конфликтов,907найденных фраз. Конфликты:объём14001,бренд12411,материал/подтип356,назначение287. Правила консервативны и ограничены словарём. Отсутствие конфликта не является проверенной релевантностью. Полнословное наличие проверяется в доступном тексте, не во всехSEOполях. Score — приоритет, не вероятность. Сохранены selling_seed/history_views/recommendation_basis. Автоматического add_candidate, изменения карточек или прогноза эффекта нет. Экспертная оценка отложена, она не требуется для запуска сохранённых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experiment_summary.json.ablation и current_queue. Recall@10 — средняя по SKU доля будущих продающих кластеров в первой десятке, не процент релевантных фраз. Вклад адаптера и LightGCN проверен на том же пуле, веса вариантов выбраны на validation. Сентябрь уже просмотрен; bootstrap внутри него не даёт нового независимого доказательства. Новый четырёхдневный интервал разницы включает ноль. Работоспособность подтверждена настоящим обучением, запуском восьми этапов и побайтовым воспроизведением выдачи без обучения. Это не равнозначно подтверждению качества на всём каталоге. Отсутствие заказа не означает нерелевантность. Измеренный прирост продаж не заявляется. A/B и рост продаж — последующая бизнес-задача.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не объявляет перечисленные эксперименты выполненными. Новый holdout должен начаться после фиксации версии и не участвовать в настройке; 14 дней — текущий горизонт, возможно накопление нескольких окон. Доли потерь — macro по SKU, не доли от260связей. Для поиска: дополнительные каналы и работа с новыми товарами, контроль полноты пула. Для порядка: эксперимент с cross-encoder/дообучением текста только при подтверждённой пользе. Товарный аудит оценивает соответствие подтверждённым свойствам, не угадывает продажи; неизвестные не превращаются в негативы. Экспертная разметка отложена и не блокирует запуск. GraphSAGE, fine-tuning E5, фото/OCR — возможные расширения, не обязательные текущие компоненты. A/B нужен для бизнес-эффекта, не для доказательства запуска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защитой предоставить доступ преподавателям и зафиксировать коммит; ссылка не доказывает публикацию локальной версии. Реальные сохранённые модели побайтно воспроизвели обаCSVбезобучения. Команды:.venv/bin/python src/recommender.py verify --config config.json; .venv/bin/python src/recommender.py recommend --release reports/stage3_release --as-of 2026-10-11T01:28:00Z --output reports/recommendations_demo. Путь вывода должен быть новым. Малый тест:.venv/bin/python -m pytest -q tests/test_workflow.py, обучает настоящие модели на синтетических данных; это функциональная проверка, не доказательство качества. Исходные бизнес-данные и веса нужны только для реальной демонстрации, передаются отдельно. Секреты не показывать. README содержит инструкцию 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Полные библиографические названия и активные ссылки — в пояснительной записке. BPR опубликован в UAI2009; запись arXiv1205.2618 размещена2012, это не дата исходной публикации. СтатьяCatBoost обосновывает семейство метода, точнаяPairLogit — в документации на следующем слайде. ИсходнаяE5публикация объясняет подход; использованнаяmultilingual-e5-small документирована отдельно. Не приписываем авторство методов или нормализатораWB себе.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История: default_staging.stg_ozon_product_queries_details. Канонические кластеры: raw.wb_normquery, снимок26.06.2026. Текущий текст: raw.ozon_product_info_attributes, снимок06.10, не используется как исторический сентябрьский признак. Происхождение чисел: reports/experiment_summary.json.provenance, stage4.provenance, манифесты оценочных и финальных артефактов. Эти внутренние материалы — источники результатов; внешние статьи их не подтверждают. Карточка модели и документация — изменяемые веб-ресурсы. Дата составления списка11.10.2026; доступность всехссылок в сети не подтверждена. Готовые весаE5заморожены, наш обученный адаптер используетInfoNCE; полнаяархитектураCPC не реализуется. Фото/OCR не используются.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ugiv/ozon_card_query_model" TargetMode="Externa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706.09516" TargetMode="External"/><Relationship Id="rId3" Type="http://schemas.openxmlformats.org/officeDocument/2006/relationships/hyperlink" Target="https://arxiv.org/abs/2212.03533" TargetMode="External"/><Relationship Id="rId4" Type="http://schemas.openxmlformats.org/officeDocument/2006/relationships/hyperlink" Target="https://arxiv.org/abs/2002.02126" TargetMode="External"/><Relationship Id="rId5" Type="http://schemas.openxmlformats.org/officeDocument/2006/relationships/hyperlink" Target="https://arxiv.org/abs/1205.2618" TargetMode="External"/><Relationship Id="rId6" Type="http://schemas.openxmlformats.org/officeDocument/2006/relationships/hyperlink" Target="https://doi.org/10.1145/1571941.1572114" TargetMode="External"/><Relationship Id="rId7" Type="http://schemas.openxmlformats.org/officeDocument/2006/relationships/hyperlink" Target="https://doi.org/10.1145/582415.582418" TargetMode="External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8.10084" TargetMode="External"/><Relationship Id="rId3" Type="http://schemas.openxmlformats.org/officeDocument/2006/relationships/hyperlink" Target="https://huggingface.co/intfloat/multilingual-e5-small" TargetMode="External"/><Relationship Id="rId4" Type="http://schemas.openxmlformats.org/officeDocument/2006/relationships/hyperlink" Target="https://arxiv.org/abs/1807.03748" TargetMode="External"/><Relationship Id="rId5" Type="http://schemas.openxmlformats.org/officeDocument/2006/relationships/hyperlink" Target="https://catboost.ai/en/docs/concepts/loss-functions-ranking#pairlogit" TargetMode="External"/><Relationship Id="rId6" Type="http://schemas.openxmlformats.org/officeDocument/2006/relationships/hyperlink" Target="https://clickhouse.com/docs" TargetMode="External"/><Relationship Id="rId7" Type="http://schemas.openxmlformats.org/officeDocument/2006/relationships/hyperlink" Target="https://pandas.pydata.org/docs/" TargetMode="Externa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CCA0"/>
                </a:solidFill>
                <a:latin typeface="Arial"/>
              </a:rPr>
              <a:t>ДИПЛОМНЫЙ ПРОЕКТ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01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1155680" cy="4160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Рекомендательная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система поисковых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кластеров Ozon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1064240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44CCA0"/>
                </a:solidFill>
                <a:latin typeface="Arial"/>
              </a:rPr>
              <a:t>Находим новые поисковые запросы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44CCA0"/>
                </a:solidFill>
                <a:latin typeface="Arial"/>
              </a:rPr>
              <a:t>для вашего товара.</a:t>
            </a:r>
          </a:p>
        </p:txBody>
      </p:sp>
      <p:sp>
        <p:nvSpPr>
          <p:cNvPr id="8" name="Oval 7"/>
          <p:cNvSpPr/>
          <p:nvPr/>
        </p:nvSpPr>
        <p:spPr>
          <a:xfrm>
            <a:off x="12161520" y="1005840"/>
            <a:ext cx="5486400" cy="5486400"/>
          </a:xfrm>
          <a:prstGeom prst="ellipse">
            <a:avLst/>
          </a:prstGeom>
          <a:solidFill>
            <a:srgbClr val="20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3578840" y="1965960"/>
            <a:ext cx="1280160" cy="2011679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573000" y="146304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82728" y="1691640"/>
            <a:ext cx="1975104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СМЫСЛ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4859000" y="3337560"/>
            <a:ext cx="1234440" cy="640079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087600" y="283464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97328" y="3063240"/>
            <a:ext cx="1975104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ПРОДАЖИ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3533119" y="3977639"/>
            <a:ext cx="1325881" cy="1371601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2527280" y="484632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37007" y="5074920"/>
            <a:ext cx="1975104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НОВЫЕ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ЗАПРОСЫ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07440" y="356616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0" y="3931920"/>
            <a:ext cx="196596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ТОВАР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7498079"/>
            <a:ext cx="17099280" cy="0"/>
          </a:xfrm>
          <a:prstGeom prst="line">
            <a:avLst/>
          </a:prstGeom>
          <a:ln w="12700">
            <a:solidFill>
              <a:srgbClr val="3B56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7909560"/>
            <a:ext cx="987552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Автор: [ФИО автора]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Программа: [Название программы]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7909560"/>
            <a:ext cx="662940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Руководитель: [ФИО руководителя]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Результаты: 11.10.2026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СТРУКТУРА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От задачи — к проверяемому результату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92608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Постановка задачи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3931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Какую проблему решаем и что рекомендуем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457200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4040" y="283464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92608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Анализ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363931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Какие данные есть и где их ограничения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81360" y="457200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480060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9204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Методика решения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60527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Как ищем, обучаем и проверяем кластеры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653796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64040" y="480060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489204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Результаты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560527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Сравнение моделей и устойчивость к ошибкам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881360" y="653796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76656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685800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Выводы и 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757123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Что достигнуто и как улучшать систему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11680" y="850392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464040" y="6766560"/>
            <a:ext cx="109728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87557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858000"/>
            <a:ext cx="685800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Список источников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7571232"/>
            <a:ext cx="6766560" cy="7955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На чём основаны методы и расчёты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0" y="8503920"/>
            <a:ext cx="681228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От данных и обучения — к измеренному качеству и воспроизводимой выдаче.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1 · ПОСТАНОВКА ЗАДАЧИ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Товар подходит.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Но покупатель его не видит.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3667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Покупатель может не знать название товара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7955279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Он ищет решение своей задачи. Анализ только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известных запросов не показывает все возможные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связи товара с потребностями покупателя.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Что такое SEO карточки?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7955279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Работа с названием, описанием и характеристиками,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чтобы товар находили по подходящим запросам.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406640"/>
            <a:ext cx="7955279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Мало просмотров — ещё не признак плохого запроса и не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доказательство отсутствия фразы в карточке.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788920"/>
            <a:ext cx="8412480" cy="1115568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990088"/>
            <a:ext cx="7818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меламиновая губка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493008"/>
            <a:ext cx="78181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Запрос по названию товара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533120" y="3977639"/>
            <a:ext cx="0" cy="411481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064240" y="4389120"/>
            <a:ext cx="4937760" cy="1188720"/>
          </a:xfrm>
          <a:prstGeom prst="ellipse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4818888"/>
            <a:ext cx="45720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2B35"/>
                </a:solidFill>
                <a:latin typeface="Arial"/>
              </a:rPr>
              <a:t>МЕЛАМИНОВАЯ ГУБКА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533120" y="5623560"/>
            <a:ext cx="0" cy="457200"/>
          </a:xfrm>
          <a:prstGeom prst="line">
            <a:avLst/>
          </a:prstGeom>
          <a:ln w="25400">
            <a:solidFill>
              <a:srgbClr val="7961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326880" y="6080760"/>
            <a:ext cx="8412480" cy="16002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6309360"/>
            <a:ext cx="78181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губка для белой подошвы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средство от следов скотча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7251192"/>
            <a:ext cx="77724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Запросы по задаче покупателя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7909560"/>
            <a:ext cx="841248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Условный пример. Совместимость с поверхностью требует проверки.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Ищем новые связи с потребностями, а не перестановки слов в одной фразе.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1 · ПОСТАНОВКА ЗАДАЧИ / ЦЕЛЬ И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Цель — открыть релевантный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малотрафиковый спрос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7190720" cy="960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Для каждого товара найти отдельные кластеры normquery, которые ему подходят,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но пока получают мало или совсем не получают просмотров его карточки.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28016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53035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Опираемся на опыт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5212080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Продающие кластеры товара 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связи, обнаруженные у других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товаров.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128016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303520"/>
            <a:ext cx="53035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Находим новые связи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943600"/>
            <a:ext cx="5212080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Смысловая близость и поведение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помогают отобрать и упорядочить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кандидатов.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0" y="4297680"/>
            <a:ext cx="128016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5303520"/>
            <a:ext cx="53035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Проверяем товар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5943600"/>
            <a:ext cx="5212080" cy="1737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Наличие фразы и явные конфликты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бренда, объёма, материала 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назначения.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680960"/>
            <a:ext cx="17190720" cy="960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Ценность: меньше ручного перебора, меньше дублей и более точный поисковый охват.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Ищем множество конкретных потребностей, а не общий трафик по запросу «средство для уборки».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Текущий результат — список на проверку. Карточки автоматически не меняем.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1 · ПОСТАНОВКА ЗАДАЧИ / КРИТЕРИИ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Как измеряем качество рекомендаций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Список строим по прошлому. Затем проверяем заказы в следующем периоде.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K — число первых рекомендаций для оценки, а не обязательная длина рабочего списка.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Условный пример: меламиновая губка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70832"/>
            <a:ext cx="7680960" cy="2103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 будущем заказали по 3 кластерам: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белая подошва, чистка кафеля, пол.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Первые два найдены на местах 1 и 3;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кластер «для пола» не найден.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749039"/>
            <a:ext cx="84124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Первые 5 рекомендаций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370832"/>
            <a:ext cx="8412480" cy="18745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1 · губка для белой подошвы — заказ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2 · средство от следов скотча — нет заказа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3 · жесткая губка для чистки кафеля — заказ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4 · губка для чистки ванны — нет заказа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5 · губка для чистки мебели — нет заказа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583680"/>
            <a:ext cx="5394960" cy="0"/>
          </a:xfrm>
          <a:prstGeom prst="line">
            <a:avLst/>
          </a:prstGeom>
          <a:ln w="381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830568"/>
            <a:ext cx="53949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Recall · полнота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434072"/>
            <a:ext cx="53949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Recall@K = H /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28431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2 из 3 → 66,7%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6583680"/>
            <a:ext cx="5394960" cy="0"/>
          </a:xfrm>
          <a:prstGeom prst="line">
            <a:avLst/>
          </a:prstGeom>
          <a:ln w="381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6830568"/>
            <a:ext cx="53949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Precision · подтверждение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7434072"/>
            <a:ext cx="53949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Precision@K = H /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8028431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2 из 5 → 40%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44400" y="6583680"/>
            <a:ext cx="5394960" cy="0"/>
          </a:xfrm>
          <a:prstGeom prst="line">
            <a:avLst/>
          </a:prstGeom>
          <a:ln w="381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344400" y="6830568"/>
            <a:ext cx="53949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NDCG · порядок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0" y="7434072"/>
            <a:ext cx="53949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NDCG@K = DCG / IDCG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0" y="8028431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1,5 / 2,131 → 70,4%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8778240"/>
            <a:ext cx="1719072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DCG = Σ (i=1…K) r(i)/log₂(i+1);  IDCG = Σ (i=1…min(K,P)) 1/log₂(i+1)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9299448"/>
            <a:ext cx="171907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P — все кластеры с заказом; H — найденные; r(i) = 1 при заказе, иначе 0. Нет заказа ≠ не подходит.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ИСТОЧНИК И ОСОБЕННОСТИ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Данные: вся доступная история Ozon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21208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3 203 109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21208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дневных записей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521208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2 171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521208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разных товаров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0" y="2697480"/>
            <a:ext cx="521208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557"/>
                </a:solidFill>
                <a:latin typeface="Arial"/>
              </a:rPr>
              <a:t>09.01–07.10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0" y="3657600"/>
            <a:ext cx="521208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период истории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Сколько разных товаров наблюдалось в каждом месяце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4937760"/>
          <a:ext cx="109728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70080" y="5001768"/>
            <a:ext cx="5669280" cy="2560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Одна строка: день + товар + запрос.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Поиски — запрос искали.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Просмотры — карточку увидели,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это не клики.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Заказы — количество покупок.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0" y="768096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* Январь начинается 9-го числа.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Октябрь неполный, поэтому не показан.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В августе и сентябре меньше наблюдаемых SKU. Это не график падения продаж.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ПОКРЫТИЕ И АНОМАЛИИ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Словарь сохраняет большую часть заказов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Исходные фразы сопоставляем с normquery — готовыми кластерами WB.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Одна связь — товар и исходная фраза за всю историю, без повторов по дням.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05072"/>
            <a:ext cx="12801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Связи «товар + исходная фраза»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0" y="4005072"/>
            <a:ext cx="283464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87557"/>
                </a:solidFill>
                <a:latin typeface="Arial"/>
              </a:rPr>
              <a:t>20,83%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45152"/>
            <a:ext cx="17190720" cy="36576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45152"/>
            <a:ext cx="3580936" cy="36576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207 745 из 997 305 сопоставлены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5212080"/>
            <a:ext cx="58521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789 560 — без кластера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07024"/>
            <a:ext cx="12801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Заказы по всей истории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0" y="5907024"/>
            <a:ext cx="283464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87557"/>
                </a:solidFill>
                <a:latin typeface="Arial"/>
              </a:rPr>
              <a:t>82,24%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47104"/>
            <a:ext cx="17190720" cy="36576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547104"/>
            <a:ext cx="14138289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114032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191 456 из 232 791 сопоставлены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0" y="7114032"/>
            <a:ext cx="58521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41 335 — без кластера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973568"/>
            <a:ext cx="17190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13 793 фраз имели несколько назначений: выбираем одно на дату снимка.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86E77"/>
                </a:solidFill>
                <a:latin typeface="Arial"/>
              </a:rPr>
              <a:t>Дней без записей: 4 · 19.05, 04.06, 12.06, 21.07. Пропуски не подменяем нулями.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Сопоставление сохраняет 82,24% заказов для обучения и проверки.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Малый трафик — зона неизвестности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05–18 сентября 2026 · 286 товаров · 14 267 связей «товар + кластер».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Сравниваем видимость и наличие хотя бы одного заказа в этом же периоде.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0507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Число связей по суммарным просмотрам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00507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Доля связей с хотя бы одним заказом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4709160"/>
          <a:ext cx="83210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418320" y="4709160"/>
          <a:ext cx="83210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7900416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Просмотров за 14 дней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7900416"/>
            <a:ext cx="83210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Это доля связей, не конверсия пользователей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8412480"/>
            <a:ext cx="1719072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1–5 просмотров: 346 из 9 177 связей получили заказ = 3,8%.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Нулевые просмотры при заказах учитываем отдельно: источник не содержит кликов.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2 · АНАЛИЗ / ВЫВОДЫ ДЛЯ МЕТОДИКИ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Что анализ требует от решения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09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Есть много малонаблюдаемых связей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4320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Ищем новые кластеры, а не только оцениваем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известные.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931920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16052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Нет заказа ≠ неверный запрос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16052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16052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Неизвестные пары используем только как слабые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сравнения.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349240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57784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Словарь датирован 26 июня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57784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57784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Решения проверяем после снимка; ранняя история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прошлый опыт.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766559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995160"/>
            <a:ext cx="80467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Тексты карточек — с 6 октября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99516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6995160"/>
            <a:ext cx="82753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Проверяем текущую выдачу; не подмешиваем их 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сентябрьское обучение.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8183880"/>
            <a:ext cx="17190720" cy="0"/>
          </a:xfrm>
          <a:prstGeom prst="line">
            <a:avLst/>
          </a:prstGeom>
          <a:ln w="127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Текстово-поведенческий контур работает без фото и ручной разметки.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Два потока: оценка и текущая выдача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Исторический эксперимент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108960"/>
            <a:ext cx="603504" cy="603504"/>
          </a:xfrm>
          <a:prstGeom prst="ellipse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Факты + словарь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SKU × normquery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4087368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74920" y="3108960"/>
            <a:ext cx="603504" cy="603504"/>
          </a:xfrm>
          <a:prstGeom prst="ellipse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Поиск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Текст + смысл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+ совместные продажи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4087368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0" y="3108960"/>
            <a:ext cx="603504" cy="603504"/>
          </a:xfrm>
          <a:prstGeom prst="ellipse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Обучение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Адаптер, граф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и CatBoost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86816" y="4087368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27480" y="352044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127480" y="3108960"/>
            <a:ext cx="603504" cy="603504"/>
          </a:xfrm>
          <a:prstGeom prst="ellipse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27480" y="3218688"/>
            <a:ext cx="603504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10360" y="3721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Оценка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10360" y="4343400"/>
            <a:ext cx="32461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Будущий период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42B35"/>
                </a:solidFill>
                <a:latin typeface="Arial"/>
              </a:rPr>
              <a:t>и вклад каналов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97880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Текущая выдача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629400"/>
            <a:ext cx="475488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Финальное обучение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по всей истории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675120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611112"/>
            <a:ext cx="502920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Текст и свойства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карточки на дату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0" y="6675120"/>
            <a:ext cx="59436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87557"/>
                </a:solidFill>
                <a:latin typeface="Arial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93040" y="6611112"/>
            <a:ext cx="484632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Список предложений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35"/>
                </a:solidFill>
                <a:latin typeface="Arial"/>
              </a:rPr>
              <a:t>для SEO-специалиста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8138160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Собственные прошлые продажи исключены. Для кандидата — не более 5 просмотров за 14 дней.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Низкий трафик — условие поиска. Наличие фразы и совместимость проверяем отдельно.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ПОИСК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Смысл и поведение: четыре канала гибрида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11 / 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3152" cy="100584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97DBA"/>
                </a:solidFill>
                <a:latin typeface="Arial"/>
              </a:rPr>
              <a:t>Предобученная E5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16352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Готовая нейросеть смысла; используем её обученные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веса.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681959" y="3200400"/>
            <a:ext cx="1417321" cy="256032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41648"/>
            <a:ext cx="73152" cy="1005840"/>
          </a:xfrm>
          <a:prstGeom prst="rect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41648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7961C9"/>
                </a:solidFill>
                <a:latin typeface="Arial"/>
              </a:rPr>
              <a:t>Обученный адаптер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114800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Уточняет векторы E5 по продающим связям нашего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каталога.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681959" y="4498848"/>
            <a:ext cx="1417321" cy="1261872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5340096"/>
            <a:ext cx="73152" cy="100584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40096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557"/>
                </a:solidFill>
                <a:latin typeface="Arial"/>
              </a:rPr>
              <a:t>Совместные продажи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413248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Другие товары продаются по связанным кластерам.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5681959" y="5760720"/>
            <a:ext cx="1417321" cy="36576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48640" y="6638544"/>
            <a:ext cx="73152" cy="1005840"/>
          </a:xfrm>
          <a:prstGeom prst="rect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638544"/>
            <a:ext cx="58521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F7185"/>
                </a:solidFill>
                <a:latin typeface="Arial"/>
              </a:rPr>
              <a:t>Обученный LightGCN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6711696"/>
            <a:ext cx="841248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Передаёт информацию по графу товаров и запросов.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681959" y="5760720"/>
            <a:ext cx="1417321" cy="1335024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910559" y="5971032"/>
            <a:ext cx="18288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ОБЩИЙ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ПУЛ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8247888"/>
            <a:ext cx="17190720" cy="685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До 150 допустимых кандидатов от канала; дубли убираем. TF-IDF и популярность — контроль.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Все методы затем сравниваем на одинаковом расширенном пуле.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Обучение адаптирует семантические и графовые связи к данным нашего каталога.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Учимся ставить перспективные связи выше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1 · Будущая новая продажа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8321040" cy="1645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В прошлом заказов по связи нет.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В следующем периоде появился заказ.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Это наблюдаемый положительный пример.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7889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2 · Восстановление скрытой связи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520440"/>
            <a:ext cx="8321040" cy="1645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Скрываем один продающий кластер.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Удаляем его из истории товара и графа.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Ищем по оставшимся ориентирам.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5349240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5669280"/>
            <a:ext cx="83210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35"/>
                </a:solidFill>
                <a:latin typeface="Arial"/>
              </a:rPr>
              <a:t>CatBoostRanker · PairLogit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321040" cy="1508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Положительный пример выше неизвестного сравнения.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Сходство, граф и общий спрос — признаки; собственный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трафик не задаёт приоритет.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669280"/>
            <a:ext cx="83210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42B35"/>
                </a:solidFill>
                <a:latin typeface="Arial"/>
              </a:rPr>
              <a:t>Гибрид обратных рангов · 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92240"/>
            <a:ext cx="8321040" cy="1508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score = Σ w / (60 + позиция)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Веса и метод выбираем на отдельном периоде. Это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порядок, не вероятность.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Обучение: 37 245 строк · 334 SKU · 2504 групп «SKU–задача».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МОДЕЛИ И ПАРАМЕТРЫ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Три модели обучены на данных проекта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5768"/>
            <a:ext cx="171907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Сначала обучаем проверочные модели на прошлом. После измерения качества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переобучаем финальные модели на всей доступной истории по 07.10.2026.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995928"/>
            <a:ext cx="5303519" cy="0"/>
          </a:xfrm>
          <a:prstGeom prst="line">
            <a:avLst/>
          </a:prstGeom>
          <a:ln w="50800">
            <a:solidFill>
              <a:srgbClr val="397D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315968"/>
            <a:ext cx="530352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97DBA"/>
                </a:solidFill>
                <a:latin typeface="Arial"/>
              </a:rPr>
              <a:t>CatBoostRanker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530352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Сравнивает кандидатов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 учится их упорядочивать.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53035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PairLogit · 600 итераций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543800"/>
            <a:ext cx="53035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97DBA"/>
                </a:solidFill>
                <a:latin typeface="Arial"/>
              </a:rPr>
              <a:t>46 787 строк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97DBA"/>
                </a:solidFill>
                <a:latin typeface="Arial"/>
              </a:rPr>
              <a:t>413 товаров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3995928"/>
            <a:ext cx="5303519" cy="0"/>
          </a:xfrm>
          <a:prstGeom prst="line">
            <a:avLst/>
          </a:prstGeom>
          <a:ln w="50800">
            <a:solidFill>
              <a:srgbClr val="7961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92240" y="4315968"/>
            <a:ext cx="530352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7961C9"/>
                </a:solidFill>
                <a:latin typeface="Arial"/>
              </a:rPr>
              <a:t>Адаптер E5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38928"/>
            <a:ext cx="530352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Уточняет готовые векторы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смысла по нашим продажам.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583680"/>
            <a:ext cx="53035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384 → 128 → 384 · InfoNCE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7543800"/>
            <a:ext cx="53035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23 569 пар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961C9"/>
                </a:solidFill>
                <a:latin typeface="Arial"/>
              </a:rPr>
              <a:t>15 эпох обучения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435840" y="3995928"/>
            <a:ext cx="5303520" cy="0"/>
          </a:xfrm>
          <a:prstGeom prst="line">
            <a:avLst/>
          </a:prstGeom>
          <a:ln w="50800">
            <a:solidFill>
              <a:srgbClr val="0875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435840" y="4315968"/>
            <a:ext cx="530352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557"/>
                </a:solidFill>
                <a:latin typeface="Arial"/>
              </a:rPr>
              <a:t>LightGCN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0" y="5138928"/>
            <a:ext cx="530352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Учит связи в графе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товаров и запросов.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0" y="6583680"/>
            <a:ext cx="530352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32 измерения · 2 слоя · BPR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0" y="7543800"/>
            <a:ext cx="53035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10 742 связей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87557"/>
                </a:solidFill>
                <a:latin typeface="Arial"/>
              </a:rPr>
              <a:t>30 эпох обучения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Готовая E5 + обучение на своём каталоге: адаптер, LightGCN и CatBoostRanker.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3 · МЕТОДИКА РЕШЕНИЯ / РАЗДЕЛЕНИЕ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Прошлое для обучения.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Следующий период — для проверки.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История известна только до даты решения. Ответ — заказ в следующие 14 дней.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Фиксируем словарь на 26.06.2026; тексты карточек используются при выдаче.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91440" cy="96012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384048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97DBA"/>
                </a:solidFill>
                <a:latin typeface="Arial"/>
              </a:rPr>
              <a:t>Обучение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297680"/>
            <a:ext cx="128016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B35"/>
                </a:solidFill>
                <a:latin typeface="Arial"/>
              </a:rPr>
              <a:t>История до 04.09 · пять дат решений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882896"/>
            <a:ext cx="12801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CatBoost, адаптер и LightGCN; окна ответов по 14 дней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05272"/>
            <a:ext cx="91440" cy="960120"/>
          </a:xfrm>
          <a:prstGeom prst="rect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96712"/>
            <a:ext cx="384048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7961C9"/>
                </a:solidFill>
                <a:latin typeface="Arial"/>
              </a:rPr>
              <a:t>Подбор метода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605272"/>
            <a:ext cx="128016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B35"/>
                </a:solidFill>
                <a:latin typeface="Arial"/>
              </a:rPr>
              <a:t>05.09–18.09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6190488"/>
            <a:ext cx="12801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Выбираем итерации и веса гибрида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912864"/>
            <a:ext cx="91440" cy="96012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7004304"/>
            <a:ext cx="384048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557"/>
                </a:solidFill>
                <a:latin typeface="Arial"/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6912864"/>
            <a:ext cx="128016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B35"/>
                </a:solidFill>
                <a:latin typeface="Arial"/>
              </a:rPr>
              <a:t>19.09–02.10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7498080"/>
            <a:ext cx="12801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Измеряем результат выбранного метода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8348472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Сентябрь — историческая диагностика; октябрь — дополнительная короткая проверка.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После измерения качества — отдельное финальное обучение для выпуска рекомендаций.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СРАВНЕНИЕ МЕТОДОВ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Гибрид находит больше будущих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продающих кластеров в первой десятке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Одна малотрафиковая проверка: 121 SKU · 260 будущих положительных связей.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Recall@10 — доля таких кластеров, найденных среди первых 10, в среднем по SKU.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4005072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390120" y="4416552"/>
            <a:ext cx="5349240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087557"/>
                </a:solidFill>
                <a:latin typeface="Arial"/>
              </a:rPr>
              <a:t>22,85%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90120" y="5897880"/>
            <a:ext cx="5349240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NDCG@10 = 0,1622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Precision@10 = 4,96%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0120" y="7351775"/>
            <a:ext cx="534924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Находит запросы, по которым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позднее появились заказы.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Гибрид — лучший из сравниваемых методов на данной исторической проверке.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ВКЛАД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Что дают обученные компоненты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Одинаковые товары, ответы и пул кандидатов. Меняем только каналы ранжирования.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Веса каждого варианта заранее выбраны на периоде подбора модели.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88136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Первая десятка · Recall@10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4617720"/>
          <a:ext cx="108813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252960" y="4434840"/>
            <a:ext cx="548640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87557"/>
                </a:solidFill>
                <a:latin typeface="Arial"/>
              </a:rPr>
              <a:t>+3,79 п.п.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0" y="5742432"/>
            <a:ext cx="5486400" cy="10515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95%-й интервал разницы: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+0,20…+7,57 п.п.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0" y="7123176"/>
            <a:ext cx="5486400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19,89% относительно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контрольного гибрида.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Обучение улучшает отбор.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Без прошлых просмотров: Recall@10 = 16,83% · 94 SKU / 180 связей.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ОТДЕЛЬНЫЙ ПЕРИОД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Новые дни: проверка без подбора настроек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04–07 октября 2026 · 4 дня · 96 товаров · 132 новых продающих связей.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Используем уже выбранные настройки. По октябрьским ответам модель не подбирали.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4114800"/>
          <a:ext cx="94183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61320" y="4160520"/>
            <a:ext cx="7178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Перенос на более поздние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4901184"/>
            <a:ext cx="7178040" cy="12801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Recall@10 гибрида — 17,95%.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Рекомендации проверены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без изменения выбранной модели.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446520"/>
            <a:ext cx="7178040" cy="1920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Разница с контролем: +2,81 п.п.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95%-й интервал: -2,08…+7,92 п.п.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Включает ноль: это короткая проверка,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не вывод об устойчивом преимуществе.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Дополнительный опыт: выбранная система находит новые продающие связи и в октябре.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ШУМ И ВЫБРОСЫ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Что происходит, если сигналы ошибаются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71907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Те же 121 товаров и 260 правильных ответов. Меняем входные сигналы, а не ответы.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Модели и веса заморожены; случайные искажения повторены 3 раза.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642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Доля ответов в первой десятке · Recall@10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4114800"/>
          <a:ext cx="110642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207240" y="4133087"/>
            <a:ext cx="5532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Что именно искажаем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07240" y="4846320"/>
            <a:ext cx="5532120" cy="33558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Шум — ошибки оценок близости: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5% и 15% их разброса у товара.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Выброс — счётчики ×100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у 1% случайных кандидатов.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Потеря — случайно удалённая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42B35"/>
                </a:solidFill>
                <a:latin typeface="Arial"/>
              </a:rPr>
              <a:t>часть найденных запросов.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Это проверка ранжирования найденного пула, не всей системы поиска и обучения.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РАЗБОР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Где теряются правильные поисковые кластеры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19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17190720" cy="8869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Берём все кластеры, по которым позже появились заказы, и смотрим их позиции.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Доли сначала считаем внутри товара, затем усредняем по тем же 121 SKU.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50791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В первых пяти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142231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4142231"/>
            <a:ext cx="877811" cy="22860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13080" y="4023359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44CCA0"/>
                </a:solidFill>
                <a:latin typeface="Arial"/>
              </a:rPr>
              <a:t>13,71%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4528" y="4069079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40 связей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01183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 местах 6–10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992623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4992623"/>
            <a:ext cx="584682" cy="22860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13080" y="4873751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557"/>
                </a:solidFill>
                <a:latin typeface="Arial"/>
              </a:rPr>
              <a:t>9,13%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54528" y="4919471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20 связей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51576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На местах 11–50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843016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5843016"/>
            <a:ext cx="1473619" cy="22860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13080" y="5724144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97DBA"/>
                </a:solidFill>
                <a:latin typeface="Arial"/>
              </a:rPr>
              <a:t>23,02%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54528" y="5769864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56 связей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601968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Ниже 50-го места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6693407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6693407"/>
            <a:ext cx="1744581" cy="228600"/>
          </a:xfrm>
          <a:prstGeom prst="rect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13080" y="6574536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7961C9"/>
                </a:solidFill>
                <a:latin typeface="Arial"/>
              </a:rPr>
              <a:t>27,26%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54528" y="6620255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72 связей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7452360"/>
            <a:ext cx="557784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Не найдены поиском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7543800"/>
            <a:ext cx="6400800" cy="228600"/>
          </a:xfrm>
          <a:prstGeom prst="rect">
            <a:avLst/>
          </a:prstGeom>
          <a:solidFill>
            <a:srgbClr val="F0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7543800"/>
            <a:ext cx="1720104" cy="228600"/>
          </a:xfrm>
          <a:prstGeom prst="rect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13080" y="7424928"/>
            <a:ext cx="210312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F7185"/>
                </a:solidFill>
                <a:latin typeface="Arial"/>
              </a:rPr>
              <a:t>26,87%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54528" y="7470648"/>
            <a:ext cx="2084831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72 связей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8183879"/>
            <a:ext cx="171907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Проценты — среднее по товарам; числа справа — все связи выборки.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Это разные способы усреднения: число связей / 260 не равно показанному проценту.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Не найденный кластер не исправить сортировкой. Найденный ниже десятки — задача ранжирования.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4 · РЕЗУЛЬТАТЫ / ПРАКТИЧЕСКАЯ ВЫДАЧА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Практический результат: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готовый список запросов для товаров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70632"/>
            <a:ext cx="7955279" cy="12344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>
                <a:solidFill>
                  <a:srgbClr val="087557"/>
                </a:solidFill>
                <a:latin typeface="Arial"/>
              </a:rPr>
              <a:t>3 530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7955279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42B35"/>
                </a:solidFill>
                <a:latin typeface="Arial"/>
              </a:rPr>
              <a:t>предложений для 353 товаров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7955279" cy="1645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Список: 11.10.2026.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Трафик по 07.10.2026;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тексты от 06.10.2026.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406640"/>
            <a:ext cx="7955279" cy="10972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Для предложения доступны продающий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ориентир, приоритет и причины отбора.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Список открывается в Excel.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898648"/>
            <a:ext cx="91440" cy="1463040"/>
          </a:xfrm>
          <a:prstGeom prst="rect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72" y="2971800"/>
            <a:ext cx="8019288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97DBA"/>
                </a:solidFill>
                <a:latin typeface="Arial"/>
              </a:rPr>
              <a:t>Фраза уже есть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3566160"/>
            <a:ext cx="8019288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907 кандидатов найдены в тексте — не предлагаем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повторно.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4764024"/>
            <a:ext cx="91440" cy="1463040"/>
          </a:xfrm>
          <a:prstGeom prst="rect">
            <a:avLst/>
          </a:prstGeom>
          <a:solidFill>
            <a:srgbClr val="DF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4837176"/>
            <a:ext cx="8019288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F7185"/>
                </a:solidFill>
                <a:latin typeface="Arial"/>
              </a:rPr>
              <a:t>Явный конфликт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5431536"/>
            <a:ext cx="8019288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27 055 кандидатов исключены: бренд, объём,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материал или назначение.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6629400"/>
            <a:ext cx="91440" cy="1463040"/>
          </a:xfrm>
          <a:prstGeom prst="rect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6702552"/>
            <a:ext cx="8019288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Приоритетный список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7296912"/>
            <a:ext cx="8019288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Запросы и основания рекомендации — для выбора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SEO-специалистом.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Нет фразы в доступных полях ≠ доказано отсутствие во всех SEO-полях.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5 · ВЫВОДЫ И 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Задача решена: система работает,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обучение улучшило результат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171907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Вклад обучения · на одинаковом пуле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5303520" cy="932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586E77"/>
                </a:solidFill>
                <a:latin typeface="Arial"/>
              </a:rPr>
              <a:t>19,06%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81144"/>
            <a:ext cx="530352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E5 + совместные продажи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520440"/>
            <a:ext cx="5303520" cy="932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87557"/>
                </a:solidFill>
                <a:latin typeface="Arial"/>
              </a:rPr>
              <a:t>22,85%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81144"/>
            <a:ext cx="530352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+ адаптер и LightGCN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0" y="3520440"/>
            <a:ext cx="5303520" cy="932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7961C9"/>
                </a:solidFill>
                <a:latin typeface="Arial"/>
              </a:rPr>
              <a:t>+3,79 п.п.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0" y="4581144"/>
            <a:ext cx="5303520" cy="5943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Прирост Recall@10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440680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7607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Рабочий результат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8321040" cy="1920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3 530 предложений / 353 товаров.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Сохранённые модели выдают список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без повторного обучения;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контрольные суммы проверяются.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760720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Практическая ценность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37376"/>
            <a:ext cx="8321040" cy="1920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Новые запросы для каждого товара.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Приоритеты вместо ручного перебора.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Отсев дублей и явных конфликтов.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2B35"/>
                </a:solidFill>
                <a:latin typeface="Arial"/>
              </a:rPr>
              <a:t>Готовый список для SEO-специалиста.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Создана и проверена рекомендательная система: поиск → обучение → оценка → выдача.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5 · ВЫВОДЫ / НАПРАВЛЕНИЯ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Как улучшать систему: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каждый шаг связан с найденной проблемой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Сначала независимая проверка. Затем — доработка по измеренным причинам ошибок.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94760"/>
            <a:ext cx="868680" cy="868680"/>
          </a:xfrm>
          <a:prstGeom prst="ellipse">
            <a:avLst/>
          </a:prstGeom>
          <a:solidFill>
            <a:srgbClr val="39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86868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56048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97DBA"/>
                </a:solidFill>
                <a:latin typeface="Arial"/>
              </a:rPr>
              <a:t>Новый период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15584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Сентябрь уже использовался;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октябрьская проверка — лишь 4 дня.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931152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Зафиксировать модель и проверить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следующие полные 14 дней.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046720"/>
            <a:ext cx="5303520" cy="749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Recall / NDCG и интервал разницы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с контрольным гибридом.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794760"/>
            <a:ext cx="868680" cy="868680"/>
          </a:xfrm>
          <a:prstGeom prst="ellipse">
            <a:avLst/>
          </a:prstGeom>
          <a:solidFill>
            <a:srgbClr val="087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86868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56048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87557"/>
                </a:solidFill>
                <a:latin typeface="Arial"/>
              </a:rPr>
              <a:t>Поиск и порядок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815584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26,87% целей не найдены;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50,28% — ниже первой десятки.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6931152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Расширять поиск; проверять пользу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точного текстового ранжирования.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8046720"/>
            <a:ext cx="5303520" cy="749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Полнота пула и NDCG;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вклад каждого изменения отдельно.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0" y="3794760"/>
            <a:ext cx="868680" cy="868680"/>
          </a:xfrm>
          <a:prstGeom prst="ellipse">
            <a:avLst/>
          </a:prstGeom>
          <a:solidFill>
            <a:srgbClr val="796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5840" y="3977639"/>
            <a:ext cx="86868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0" y="4956048"/>
            <a:ext cx="53035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961C9"/>
                </a:solidFill>
                <a:latin typeface="Arial"/>
              </a:rPr>
              <a:t>Соответствие товару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0" y="5815584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Правила выявляют лишь явные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конфликты; остальное неизвестно.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0" y="6931152"/>
            <a:ext cx="5303520" cy="8961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Расширять проверку свойств;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отдельно провести аудит фраз.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0" y="8046720"/>
            <a:ext cx="5303520" cy="749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Доля конфликтов и подходящих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фраз; неизвестные — отдельно.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Фото — вне текущего объёма. Рост заказов проверяется отдельно, после SEO-изменений.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МАТЕРИАЛЫ ДЛЯ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Рабочий код и воспроизведение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1719072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B35"/>
                </a:solidFill>
                <a:latin typeface="Arial"/>
              </a:rPr>
              <a:t>Репозиторий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71907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397DBA"/>
                </a:solidFill>
                <a:latin typeface="Arial"/>
                <a:hlinkClick r:id="rId2"/>
              </a:rPr>
              <a:t>https://github.com/eugiv/ozon_card_query_model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81728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557"/>
                </a:solidFill>
                <a:latin typeface="Arial"/>
              </a:rPr>
              <a:t>Одна точка входа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8321040" cy="2286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src/recommender.py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run — весь процесс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verify — проверка результатов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2B35"/>
                </a:solidFill>
                <a:latin typeface="Arial"/>
              </a:rPr>
              <a:t>recommend — готовые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681728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961C9"/>
                </a:solidFill>
                <a:latin typeface="Arial"/>
              </a:rPr>
              <a:t>Материалы рядом с кодом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376672"/>
            <a:ext cx="8321040" cy="2286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README.md — запуск и статус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docs/recommender_methodology.md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reports/experiment_summary.json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2B35"/>
                </a:solidFill>
                <a:latin typeface="Arial"/>
              </a:rPr>
              <a:t>reports/explanatory_note.docx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193024"/>
            <a:ext cx="17190720" cy="7315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Демонстрация: verify проверяет 8 этапов; recommend воспроизводит выдачу без обучения.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86E77"/>
                </a:solidFill>
                <a:latin typeface="Arial"/>
              </a:rPr>
              <a:t>9 ML-модулей и 2 генератора материалов; данные, сертификаты и .env не публикуются.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Перед защитой: опубликовать нужный коммит и проверить доступ преподавателей.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6 · СПИСОК ИСТОЧНИКОВ / 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Научные источники: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почему выбраны эти методы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24 / 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788920"/>
            <a:ext cx="8138160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95351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CatBoost · бустинг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Prokhorenkova et al., 2018.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CatBoost: unbiased boosting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with categorical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43983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2"/>
              </a:rPr>
              <a:t>Статья / DOI 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19" y="2788920"/>
            <a:ext cx="8138161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18319" y="2953512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E5 · смысловые векторы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3547872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Wang et al., 2022. Text Embeddings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by Weakly-Supervised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Contrastive Pre-training.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4443983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3"/>
              </a:rPr>
              <a:t>Статья / DOI 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773168"/>
            <a:ext cx="8138160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937759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LightGCN · граф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He et al., 2020. LightGCN: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Simplifying and Powering Graph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Convolution Network for Recommendation.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1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4"/>
              </a:rPr>
              <a:t>Статья / DOI 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19" y="4773168"/>
            <a:ext cx="8138161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18319" y="4937759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BPR · обучение графа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553212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Rendle et al., UAI 2009.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Bayesian Personalized Ranking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from Implicit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6428231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5"/>
              </a:rPr>
              <a:t>Статья / DOI 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757416"/>
            <a:ext cx="8138160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922007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RRF · гибрид рангов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516367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Cormack, Clarke, Büttcher, 2009.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Reciprocal Rank Fusion.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SIGIR.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412480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6"/>
              </a:rPr>
              <a:t>Статья / DOI →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18319" y="6757416"/>
            <a:ext cx="8138161" cy="0"/>
          </a:xfrm>
          <a:prstGeom prst="line">
            <a:avLst/>
          </a:prstGeom>
          <a:ln w="254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18319" y="6922007"/>
            <a:ext cx="832104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NDCG · качество порядка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7516367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Järvelin, Kekäläinen, 2002.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Cumulated gain-based evaluation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86E77"/>
                </a:solidFill>
                <a:latin typeface="Arial"/>
              </a:rPr>
              <a:t>of IR techniques. ACM TOIS.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8412480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7"/>
              </a:rPr>
              <a:t>Статья / DOI 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Статьи обосновывают методы. Качество нашей модели измерено отдельными экспериментами.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" cy="32004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691640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6E77"/>
                </a:solidFill>
                <a:latin typeface="Arial"/>
              </a:rPr>
              <a:t>6 · СПИСОК ИСТОЧНИКОВ / РЕАЛИЗАЦИЯ И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7190720" cy="17556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Источники реализации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42B35"/>
                </a:solidFill>
                <a:latin typeface="Arial"/>
              </a:rPr>
              <a:t>и происхождение результатов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4871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2487168"/>
            <a:ext cx="2011680" cy="0"/>
          </a:xfrm>
          <a:prstGeom prst="line">
            <a:avLst/>
          </a:prstGeom>
          <a:ln w="50800">
            <a:solidFill>
              <a:srgbClr val="44CC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912096"/>
            <a:ext cx="14630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OZON  /  ПОИСК НОВЫХ КЛАСТЕРОВ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9912096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E77"/>
                </a:solidFill>
                <a:latin typeface="Arial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Sentence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269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Reimers, Gurevych, 2019.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Sentence-BERT · семантический поиск.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6849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2"/>
              </a:rPr>
              <a:t>Открыть источник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74320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multilingual-e5-small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328269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Карточка intfloat: точная модель,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размер вектора и префиксы текстов.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396849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3"/>
              </a:rPr>
              <a:t>Открыть источник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InfoNCE · цель адаптера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2861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van den Oord, Li, Vinyals, 2018.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Contrastive Predictive Coding.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1441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4"/>
              </a:rPr>
              <a:t>Открыть источник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438912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PairLogit · цель CatBoost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492861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Документация CatBoost: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попарное обучение ранжированию.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561441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5"/>
              </a:rPr>
              <a:t>Открыть источник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ClickHouse · источник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7453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Официальная документация: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чтение и агрегация истории.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26033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6"/>
              </a:rPr>
              <a:t>Открыть источник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6035040"/>
            <a:ext cx="822960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2B35"/>
                </a:solidFill>
                <a:latin typeface="Arial"/>
              </a:rPr>
              <a:t>pandas · обработка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6574536"/>
            <a:ext cx="8229600" cy="6309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Официальная документация: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86E77"/>
                </a:solidFill>
                <a:latin typeface="Arial"/>
              </a:rPr>
              <a:t>табличные преобразования.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7260336"/>
            <a:ext cx="822960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97DBA"/>
                </a:solidFill>
                <a:latin typeface="Arial"/>
                <a:hlinkClick r:id="rId7"/>
              </a:rPr>
              <a:t>Открыть источник 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7744968"/>
            <a:ext cx="17190720" cy="0"/>
          </a:xfrm>
          <a:prstGeom prst="line">
            <a:avLst/>
          </a:prstGeom>
          <a:ln w="25400">
            <a:solidFill>
              <a:srgbClr val="F0F5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8019288"/>
            <a:ext cx="17190720" cy="7863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Данные: история запросов Ozon + словарь WB + датированный текст карточек.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42B35"/>
                </a:solidFill>
                <a:latin typeface="Arial"/>
              </a:rPr>
              <a:t>Наши числа: experiment_summary.json; входы и результаты связаны контрольными суммами.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8961120"/>
            <a:ext cx="17190720" cy="713232"/>
          </a:xfrm>
          <a:prstGeom prst="roundRect">
            <a:avLst>
              <a:gd name="adj" fmla="val 12000"/>
            </a:avLst>
          </a:prstGeom>
          <a:solidFill>
            <a:srgbClr val="14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9134856"/>
            <a:ext cx="73152" cy="365760"/>
          </a:xfrm>
          <a:prstGeom prst="rect">
            <a:avLst/>
          </a:prstGeom>
          <a:solidFill>
            <a:srgbClr val="44C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9134856"/>
            <a:ext cx="1645920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12 внешних источников. Полные ссылки и описание их роли — в пояснительной записке.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">
      <a:dk1>
        <a:srgbClr val="142B35"/>
      </a:dk1>
      <a:lt1>
        <a:srgbClr val="FFFFFF"/>
      </a:lt1>
      <a:dk2>
        <a:srgbClr val="292B30"/>
      </a:dk2>
      <a:lt2>
        <a:srgbClr val="F0F5F5"/>
      </a:lt2>
      <a:accent1>
        <a:srgbClr val="44CCA0"/>
      </a:accent1>
      <a:accent2>
        <a:srgbClr val="DF7185"/>
      </a:accent2>
      <a:accent3>
        <a:srgbClr val="7961C9"/>
      </a:accent3>
      <a:accent4>
        <a:srgbClr val="397DBA"/>
      </a:accent4>
      <a:accent5>
        <a:srgbClr val="999999"/>
      </a:accent5>
      <a:accent6>
        <a:srgbClr val="087557"/>
      </a:accent6>
      <a:hlink>
        <a:srgbClr val="397DBA"/>
      </a:hlink>
      <a:folHlink>
        <a:srgbClr val="7961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Рекомендательная система поисковых кластеров Ozon</dc:title>
  <dc:subject>Постановка задачи, анализ, методика, результаты, выводы и источники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